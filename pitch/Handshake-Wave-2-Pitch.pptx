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6c4fb001d0404a" /><Relationship Type="http://schemas.openxmlformats.org/officeDocument/2006/relationships/extended-properties" Target="/docProps/app.xml" Id="R2e25340c0df74fb8" /><Relationship Type="http://schemas.openxmlformats.org/officeDocument/2006/relationships/officeDocument" Target="/ppt/presentation.xml" Id="R254c3de24a0a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25ae93dee40a9"/>
  </p:sldMasterIdLst>
  <p:notesMasterIdLst>
    <p:notesMasterId xmlns:r="http://schemas.openxmlformats.org/officeDocument/2006/relationships" r:id="R40a5a96eaf8e470c"/>
  </p:notesMasterIdLst>
  <p:sldIdLst>
    <p:sldId xmlns:r="http://schemas.openxmlformats.org/officeDocument/2006/relationships" id="256" r:id="R780ed917138c4fce"/>
    <p:sldId xmlns:r="http://schemas.openxmlformats.org/officeDocument/2006/relationships" id="257" r:id="R71ada6755239445c"/>
    <p:sldId xmlns:r="http://schemas.openxmlformats.org/officeDocument/2006/relationships" id="258" r:id="R3937bbc1eda74a03"/>
    <p:sldId xmlns:r="http://schemas.openxmlformats.org/officeDocument/2006/relationships" id="259" r:id="Rfc21c78f007d4257"/>
    <p:sldId xmlns:r="http://schemas.openxmlformats.org/officeDocument/2006/relationships" id="260" r:id="R94e72693265241f0"/>
    <p:sldId xmlns:r="http://schemas.openxmlformats.org/officeDocument/2006/relationships" id="261" r:id="R1bcbdc9e9d4046c7"/>
    <p:sldId xmlns:r="http://schemas.openxmlformats.org/officeDocument/2006/relationships" id="262" r:id="R9db176d92f9947ae"/>
    <p:sldId xmlns:r="http://schemas.openxmlformats.org/officeDocument/2006/relationships" id="263" r:id="Rc73cd12da9fc41b6"/>
    <p:sldId xmlns:r="http://schemas.openxmlformats.org/officeDocument/2006/relationships" id="264" r:id="Re1118f347d35492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a5de7820b4716" /><Relationship Type="http://schemas.openxmlformats.org/officeDocument/2006/relationships/slideMaster" Target="/ppt/slideMasters/slideMaster1.xml" Id="Rc6725ae93dee40a9" /><Relationship Type="http://schemas.openxmlformats.org/officeDocument/2006/relationships/notesMaster" Target="/ppt/notesMasters/notesMaster1.xml" Id="R40a5a96eaf8e470c" /><Relationship Type="http://schemas.openxmlformats.org/officeDocument/2006/relationships/presProps" Target="/ppt/presProps.xml" Id="Rd4ec640699e24c45" /><Relationship Type="http://schemas.openxmlformats.org/officeDocument/2006/relationships/tableStyles" Target="/ppt/tableStyles.xml" Id="R75fd23472ec34e47" /><Relationship Type="http://schemas.openxmlformats.org/officeDocument/2006/relationships/slide" Target="/ppt/slides/slide1.xml" Id="R780ed917138c4fce" /><Relationship Type="http://schemas.openxmlformats.org/officeDocument/2006/relationships/slide" Target="/ppt/slides/slide2.xml" Id="R71ada6755239445c" /><Relationship Type="http://schemas.openxmlformats.org/officeDocument/2006/relationships/slide" Target="/ppt/slides/slide3.xml" Id="R3937bbc1eda74a03" /><Relationship Type="http://schemas.openxmlformats.org/officeDocument/2006/relationships/slide" Target="/ppt/slides/slide4.xml" Id="Rfc21c78f007d4257" /><Relationship Type="http://schemas.openxmlformats.org/officeDocument/2006/relationships/slide" Target="/ppt/slides/slide5.xml" Id="R94e72693265241f0" /><Relationship Type="http://schemas.openxmlformats.org/officeDocument/2006/relationships/slide" Target="/ppt/slides/slide6.xml" Id="R1bcbdc9e9d4046c7" /><Relationship Type="http://schemas.openxmlformats.org/officeDocument/2006/relationships/slide" Target="/ppt/slides/slide7.xml" Id="R9db176d92f9947ae" /><Relationship Type="http://schemas.openxmlformats.org/officeDocument/2006/relationships/slide" Target="/ppt/slides/slide8.xml" Id="Rc73cd12da9fc41b6" /><Relationship Type="http://schemas.openxmlformats.org/officeDocument/2006/relationships/slide" Target="/ppt/slides/slide9.xml" Id="Re1118f347d3549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fa0c210d54f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736b9976864ef6" /><Relationship Type="http://schemas.openxmlformats.org/officeDocument/2006/relationships/notesMaster" Target="/ppt/notesMasters/notesMaster1.xml" Id="R7a9f44fb78b94c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7d8579015e45a1" /><Relationship Type="http://schemas.openxmlformats.org/officeDocument/2006/relationships/notesMaster" Target="/ppt/notesMasters/notesMaster1.xml" Id="R122ce8177ab14d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2bc095f71448ab" /><Relationship Type="http://schemas.openxmlformats.org/officeDocument/2006/relationships/notesMaster" Target="/ppt/notesMasters/notesMaster1.xml" Id="R7a75d2a5faec42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892e8285ff462f" /><Relationship Type="http://schemas.openxmlformats.org/officeDocument/2006/relationships/notesMaster" Target="/ppt/notesMasters/notesMaster1.xml" Id="R9817a96331bb43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3125dcbe1b449d" /><Relationship Type="http://schemas.openxmlformats.org/officeDocument/2006/relationships/notesMaster" Target="/ppt/notesMasters/notesMaster1.xml" Id="R625a934b38cd43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36f739ed834a76" /><Relationship Type="http://schemas.openxmlformats.org/officeDocument/2006/relationships/notesMaster" Target="/ppt/notesMasters/notesMaster1.xml" Id="Rcfd66c9fea074b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ac8f60ae24478d" /><Relationship Type="http://schemas.openxmlformats.org/officeDocument/2006/relationships/notesMaster" Target="/ppt/notesMasters/notesMaster1.xml" Id="R1a627afdab1548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8e463351254d81" /><Relationship Type="http://schemas.openxmlformats.org/officeDocument/2006/relationships/notesMaster" Target="/ppt/notesMasters/notesMaster1.xml" Id="Rab29c43df7ed42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59657dd0fd498c" /><Relationship Type="http://schemas.openxmlformats.org/officeDocument/2006/relationships/notesMaster" Target="/ppt/notesMasters/notesMaster1.xml" Id="Rfd9da8896bbb41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Opening: Handshake connects off-chain payment evidence to on-chain test-token settlement. Be explicit that the receipt is a demo and no fiat payment occurs.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Clarify trust boundary: Gmail DKIM checks and receipt parsing happen in the attester. Midnight verifies the attester signature; it does not verify the email DKIM signature in-circuit.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Architecture follows the repository: Next.js App Router, Lace connector, public indexer, Compact contract, Gmail demo receipt route, and the off-chain attester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Privacy claims are limited to current implementation. Contract code discloses the recipient, trade amount, and offer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Progress is stated as capability in this Wave 2 code snapshot; it does not claim comparative metrics or user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Roadmap items are proposed next steps, not shipped features. The current app has one preconfigured maker offer and demo receipts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Handshake repository README, app, and Compact marketplace contract as of the Wave 2 snapshot.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Program framing: user-provided Midnight Buildathon brief. Verify submission requirements and dates against the Official Rules and AKINDO.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restating the demo boundary. Direct judges to the public repository and live walkthrough.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741f99c8246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26dc74cf37490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05d1611c644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959b62f8a47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53bd0f78314a8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70ce26a81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A6C4A8-05B0-40B4-B34C-2B725B39D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19FC14B-D3B9-435E-920E-8A9CBC829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174E183-B1C9-466B-81AE-DEE567719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3BF43B-2C33-483C-B7C5-B5D4EBAF9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CDD2E33-7B8B-4CA5-8567-EF66D84D8C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9047F0-EE09-4C08-AF9A-C27DD678F8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0BF348-614E-437A-9D45-C3D3E94E2B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4252FE2-81AE-4C0D-8C71-24353BDD05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F3A063-2E4B-4520-8303-E9F3C7643C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91E349-59F4-41DE-A84A-8DF730DC93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cf15e610374891" /><Relationship Type="http://schemas.openxmlformats.org/officeDocument/2006/relationships/slideLayout" Target="/ppt/slideLayouts/slideLayout1.xml" Id="R7286790b8cb34def" /><Relationship Type="http://schemas.openxmlformats.org/officeDocument/2006/relationships/slideLayout" Target="/ppt/slideLayouts/slideLayout2.xml" Id="R2e24f3dc2e5c40b5" /><Relationship Type="http://schemas.openxmlformats.org/officeDocument/2006/relationships/slideLayout" Target="/ppt/slideLayouts/slideLayout3.xml" Id="R7f3b2c9a16314df9" /><Relationship Type="http://schemas.openxmlformats.org/officeDocument/2006/relationships/slideLayout" Target="/ppt/slideLayouts/slideLayout4.xml" Id="R771cd057797e4409" /><Relationship Type="http://schemas.openxmlformats.org/officeDocument/2006/relationships/slideLayout" Target="/ppt/slideLayouts/slideLayout5.xml" Id="R38e08115914d44bd" /><Relationship Type="http://schemas.openxmlformats.org/officeDocument/2006/relationships/slideLayout" Target="/ppt/slideLayouts/slideLayout6.xml" Id="R84e5145b6400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86790b8cb34def"/>
    <p:sldLayoutId xmlns:r="http://schemas.openxmlformats.org/officeDocument/2006/relationships" id="2147483650" r:id="R2e24f3dc2e5c40b5"/>
    <p:sldLayoutId xmlns:r="http://schemas.openxmlformats.org/officeDocument/2006/relationships" id="2147483651" r:id="R7f3b2c9a16314df9"/>
    <p:sldLayoutId xmlns:r="http://schemas.openxmlformats.org/officeDocument/2006/relationships" id="2147483652" r:id="R771cd057797e4409"/>
    <p:sldLayoutId xmlns:r="http://schemas.openxmlformats.org/officeDocument/2006/relationships" id="2147483653" r:id="R38e08115914d44bd"/>
    <p:sldLayoutId xmlns:r="http://schemas.openxmlformats.org/officeDocument/2006/relationships" id="2147483654" r:id="R84e5145b6400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c69007664b4f8d" /><Relationship Type="http://schemas.openxmlformats.org/officeDocument/2006/relationships/notesSlide" Target="/ppt/notesSlides/notesSlide1.xml" Id="Re2cc7f2f07f64e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0fbcd4e02a4e78" /><Relationship Type="http://schemas.openxmlformats.org/officeDocument/2006/relationships/notesSlide" Target="/ppt/notesSlides/notesSlide2.xml" Id="R9c621bd0f8f340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eec81bc096460d" /><Relationship Type="http://schemas.openxmlformats.org/officeDocument/2006/relationships/notesSlide" Target="/ppt/notesSlides/notesSlide3.xml" Id="R8f20bada9f3549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dbed7a6f74445" /><Relationship Type="http://schemas.openxmlformats.org/officeDocument/2006/relationships/notesSlide" Target="/ppt/notesSlides/notesSlide4.xml" Id="Rf13e21fb9fbd44d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2a75ae14454822" /><Relationship Type="http://schemas.openxmlformats.org/officeDocument/2006/relationships/notesSlide" Target="/ppt/notesSlides/notesSlide5.xml" Id="Rb653dbc705b24f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67c1975e2b498e" /><Relationship Type="http://schemas.openxmlformats.org/officeDocument/2006/relationships/notesSlide" Target="/ppt/notesSlides/notesSlide6.xml" Id="R4bf9822446d141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f25d5a3c94f61" /><Relationship Type="http://schemas.openxmlformats.org/officeDocument/2006/relationships/notesSlide" Target="/ppt/notesSlides/notesSlide7.xml" Id="Rcd0570bd8411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b1c62c9734adc" /><Relationship Type="http://schemas.openxmlformats.org/officeDocument/2006/relationships/notesSlide" Target="/ppt/notesSlides/notesSlide8.xml" Id="R5e83be9c49df4e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ca6460c6f454d" /><Relationship Type="http://schemas.openxmlformats.org/officeDocument/2006/relationships/notesSlide" Target="/ppt/notesSlides/notesSlide9.xml" Id="Rbeeca6f52e664e72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1016"/>
            </a:gs>
            <a:gs pos="100000">
              <a:srgbClr val="17242C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148A13-E311-4B85-94F5-00654D72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MIDNIGHT BUILDATHON  /  WAVE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9F193-D307-48A0-8792-42A97BC8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95450"/>
            <a:ext cx="7429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525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4ADED-F4CC-41BB-AD88-E9DB97B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5722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Payment evidence in.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337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Escrowed tokens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F1305-78E0-42DA-99A0-199612BA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6000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454"/>
          </a:bodyPr>
          <a:lstStyle xmlns:a="http://schemas.openxmlformats.org/drawingml/2006/main">
            <a:def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A Midnight prototype that verifies a signed email receipt off-chain, then lets a buyer settle against seller-funded test tokens on-chain.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0F9BF-E5D3-4035-8039-E7DC4D67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15025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C4FF8-B257-4BB0-91B2-AA1B55F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PREVIEW TESTNET  /  COMPACT CONTRACT  /  LACE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E6617-A653-4E82-B236-7F8ABFA1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95450"/>
            <a:ext cx="266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>
            <a:def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ctr"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75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18750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A63F-76DD-4D80-9577-2287C237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101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ctr"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Selective disclosure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with verifiable settlement</a:t>
            </a:r>
          </a:p>
        </p:txBody>
      </p:sp>
    </p:spTree>
    <p:extLst>
      <p:ext uri="{BB962C8B-B14F-4D97-AF65-F5344CB8AC3E}">
        <p14:creationId xmlns:p14="http://schemas.microsoft.com/office/powerpoint/2010/main" val="10987339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DB37D-D053-4589-B98B-1FC5B923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8CBD5-D802-4204-B245-24A3B96C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A receipt should not become the payment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14E49-1FCB-478D-9F59-D2F52A9D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CA4AB-363C-4F90-91FB-EA36F3A4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22A62-DC41-409C-BE36-DE0B0251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CC5B0E-E25B-4475-AA30-767DB019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A marketplace needs a reliable way to release an asset after an off-chain payment, while keeping the underlying email out of public contract state.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3041E5-C87B-44D6-9547-72C567C0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45B1B-31C4-4D96-8305-8D91AD77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0E51-9619-4B8A-92E3-04892DD3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Screenshots are weak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532F0-D69B-4704-B8EE-8A6939A0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A screenshot can be edited and is hard for a contract to validate.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7E360-0AD5-45AD-BBEE-2FF2F783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238D8-3E6D-4320-B46F-BBFD9C4F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A685B-9B81-463F-9457-F915FC0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14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Receipts contain private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C9150-2272-4334-8F27-A9C4C4D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72025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Email bodies can reveal names, inboxes, transaction details, and other metadata.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95155-3160-4EAD-B316-75082BD0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4DCA5-E993-438B-8DC9-F42F9A41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BC129-3AB2-4307-BCCE-0EA4DCAE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Settlement needs a clear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4A81F-27F0-4622-99B1-A7443400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72025"/>
            <a:ext cx="285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7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Both sides need to know when reserved inventory can move and what proof triggers release.</a:t>
            </a:r>
          </a:p>
        </p:txBody>
      </p:sp>
    </p:spTree>
    <p:extLst>
      <p:ext uri="{BB962C8B-B14F-4D97-AF65-F5344CB8AC3E}">
        <p14:creationId xmlns:p14="http://schemas.microsoft.com/office/powerpoint/2010/main" val="1650336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EE5F9-A3EA-45DE-A5E1-57AC4CE3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8396E-4657-4EA0-841A-F7B8CBDD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Handshake separates evidence from settlement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AC139-68F8-45EE-9618-56CBE875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AC7AF-0901-4E84-B242-C575C069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ED209-A352-4D61-B940-07F8D3B9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2FD73-65DB-4096-9EF2-9E7A91F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OFF-CHAIN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74D8C-E81B-497A-BA46-7E3641F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86"/>
          </a:bodyPr>
          <a:lstStyle xmlns:a="http://schemas.openxmlformats.org/drawingml/2006/main">
            <a:def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attester checks the original Gmail message.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FE8D4-91E6-4735-AE4F-AA0A2915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It validates Gmail DKIM and the receipt fields against the reserved buyer, amount, recipient, and trade reference.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1690A-5A19-45FE-859D-C83C94D7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190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A9E26-2900-49D2-809D-CC37B293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ON-CHAIN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909BC-E26F-46A1-8F37-B49C01ED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86"/>
          </a:bodyPr>
          <a:lstStyle xmlns:a="http://schemas.openxmlformats.org/drawingml/2006/main">
            <a:def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Compact contract checks the claim.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65EC4-8F0C-4B07-8CA2-F8B59DEB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46482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A Schnorr signature binds the attestation to the offer and buyer commitment. The contract blocks replay and releases the reserved tUSDC atomically.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CC5F90-60D7-4DDF-99C8-B27B79B9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The email file stays off-chain. The buyer submits the resulting proof through Lace.</a:t>
            </a:r>
          </a:p>
        </p:txBody>
      </p:sp>
    </p:spTree>
    <p:extLst>
      <p:ext uri="{BB962C8B-B14F-4D97-AF65-F5344CB8AC3E}">
        <p14:creationId xmlns:p14="http://schemas.microsoft.com/office/powerpoint/2010/main" val="1962396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D96023-D64C-4038-86A5-6124818B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B858B-5A33-4433-9446-FB7B6891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One buyer journey, four contract-aware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507FB-FC75-4768-ABDB-61D0400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1AC21-393F-4E47-8C53-7CAC8E24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2C260-74C5-4919-971D-13E68910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09B15-0880-4DF6-A657-E69AD534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59660D-B1CC-4F6B-9E92-F7C7B5E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4328C-14DD-4DD2-BE6A-BECBB421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Fund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BC23E-DB60-40CE-8BE0-A5DD3752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2247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The maker escrows demo tUSDC into one deployed offer.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88A61-3694-471F-86C8-69AD3928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1594A-4804-417C-B6D3-57BC7590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1A65AC-BE49-4220-A7DD-598DBFBB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813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Reserve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5B9A-84AA-4746-A678-8D4931AA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52850"/>
            <a:ext cx="2247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The buyer chooses an amount. The contract locks that liquidity.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AC3F2-2B1B-47CF-851D-0BE4E8DE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90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ABA6EA-3673-4458-A36A-85E4B60B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76550"/>
            <a:ext cx="2247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23C17-FC64-4319-9F07-0490D705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AA229-DDFE-49E0-9369-10982F034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52850"/>
            <a:ext cx="2247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The buyer uploads the original email. The attester checks DKIM and signed fields.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D4CCF-028A-4E82-99F7-3EECED2A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0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AD1EB6-163F-4BBB-BD62-A2EAE359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2247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E5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ED3EF-4E96-42B9-80F3-2D19D649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81350"/>
            <a:ext cx="224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Settle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53983-0F90-4633-BCE9-0BF6336C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52850"/>
            <a:ext cx="22479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Lace submits the attestation. The contract validates and pays the buyer.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533D0-89AE-49BE-94E1-6600FA23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14975"/>
            <a:ext cx="10334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BD78"/>
                </a:solidFill>
                <a:latin typeface="Arial"/>
                <a:ea typeface="Arial"/>
                <a:cs typeface="Arial"/>
              </a:rPr>
              <a:t>The prototype demonstrates test-token settlement only. The demo receipt does not represent a fiat payment.</a:t>
            </a:r>
          </a:p>
        </p:txBody>
      </p:sp>
    </p:spTree>
    <p:extLst>
      <p:ext uri="{BB962C8B-B14F-4D97-AF65-F5344CB8AC3E}">
        <p14:creationId xmlns:p14="http://schemas.microsoft.com/office/powerpoint/2010/main" val="15937365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6A211-824C-4B88-B52D-C064BB62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AD6C5-239E-40BE-9354-24D912CD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Midnight anchors the settlement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7EC658-3A0A-48F5-9963-4C3A7862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C484B-5112-4F35-BF53-D09D5017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1ACBB-D4E7-4A3A-A28E-4FC8CA36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95EBA-3E3D-4256-A29A-479A7113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BUYER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52E69F-7ABB-4B96-B7D5-1D525277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97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Next.js reads the offer from the indexer and prepares intent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4874D-8E2B-49B1-AF90-639BAAED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574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3A85DD-FA12-4839-89F3-B88B9A4C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LACE WALLET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BA271-12EC-4F51-A2CE-EA68E629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buyer reviews and submits reservation, cancellation, and settlement transactions.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77F93-08A5-406E-905E-AE4127FF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EA604-CC0D-48CD-AA23-80BC835C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OFF-CHAIN ATTESTER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251B0-0D85-488D-9BD7-F5BD2BD0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7667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Gmail DKIM and receipt-field checks produce a Jubjub Schnorr signature.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B6F42-178B-46E9-9B5E-E057B10B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D84E7-100A-40B4-90F6-1F5C751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COMPACT CONTRACT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47DAE6-B115-4535-8F75-90F4ED6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59"/>
          </a:bodyPr>
          <a:lstStyle xmlns:a="http://schemas.openxmlformats.org/drawingml/2006/main">
            <a:def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Tracks escrow and intents, verifies the signature, prevents replay, and pays test tUSDC.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22BE5C-9A7D-4697-8A2A-935853F7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0D31BD-5BAD-440F-8A42-9B5DCFB8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The buyer submits directly; the attester is not a transaction relayer.</a:t>
            </a:r>
          </a:p>
        </p:txBody>
      </p:sp>
    </p:spTree>
    <p:extLst>
      <p:ext uri="{BB962C8B-B14F-4D97-AF65-F5344CB8AC3E}">
        <p14:creationId xmlns:p14="http://schemas.microsoft.com/office/powerpoint/2010/main" val="19162633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E36F6-622D-4C82-B1E7-9886FE39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BF2A5-48D0-4AA8-9B0C-60A6EAF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Privacy has a precise boundary in this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3F7EB-E2F9-48DC-923F-9E315860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77D30-8624-467E-B542-9F4CFFA3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3F7A7-BC7B-49F4-8C04-E68D67F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AFA6E-F751-4C5C-A4F0-C9C82478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KEPT OFF-CHAIN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732CC2-6F08-45C1-9250-072B3686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A1534-798B-4F6C-80F9-C30F1FCA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Original email file and body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7A430-80A9-4674-A562-867AB2D4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DKIM parsing and sender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F8FFF-00B4-42E9-8AB3-B7534FDD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Receipt validation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4C95A-611E-425B-9A19-594D1FE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90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PUBLIC ON-CHAIN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2EBA5-7D42-45C7-A2F4-AAFA7A7B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479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C0A4F-F83E-4D9C-8D3F-CB7E4F8D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527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Recipient address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D014C-E08B-45E7-A037-EF816BAA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Reservation and offer amounts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738DC-B017-4FF0-9FD1-F4779B62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100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Offer state and replay keys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2113D-39A2-449B-B6B0-541A00ED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BD78"/>
                </a:solidFill>
                <a:latin typeface="Arial"/>
                <a:ea typeface="Arial"/>
                <a:cs typeface="Arial"/>
              </a:rPr>
              <a:t>TRUSTED TODAY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1F75A-EDB3-48E0-86E6-D70BB3F7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35ED73-9223-42E5-B500-9E1CAAFA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Attester validates the email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7430C-6E6E-4289-B7E4-91B5618A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8140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Demo receipt means no payment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3AB34-800E-4E41-993E-8EC78C8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3009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Maker secret manages one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056B9-2392-4DBB-9375-56CD6EC7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The contract verifies a signed claim, not the email itself. The attester remains part of the trust model.</a:t>
            </a:r>
          </a:p>
        </p:txBody>
      </p:sp>
    </p:spTree>
    <p:extLst>
      <p:ext uri="{BB962C8B-B14F-4D97-AF65-F5344CB8AC3E}">
        <p14:creationId xmlns:p14="http://schemas.microsoft.com/office/powerpoint/2010/main" val="13322551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BE3EC-11ED-497A-9443-70F13F91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E1F05-AADF-4157-8AED-D37E2B18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Wave 2 turns the flow into a live testnet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093815-F1DF-45F1-BEB1-AB8C0A9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A1E90-CF5D-4AB1-AA6B-20089714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065F7-9F83-4ACF-AE8F-3C7331E6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80F53-5C0D-4CB6-A2A9-E600F57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CONCURRENT INTENTS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1D723-E0CF-46D7-B336-FFB5F46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00250"/>
            <a:ext cx="756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Multiple buyers can reserve against shared offer liquidity; each wallet can hold one active intent per offer.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859E70-ECD3-4E84-BBC8-962D64CD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78513-C699-4326-801A-3AD06257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EMAIL ATTESTATION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25D70-C65E-44ED-BCC4-865E9539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756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buyer uploads an unchanged Gmail .eml file; the attester verifies DKIM and trade fields before signing.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BFA92-E37A-465D-B975-85C13FB7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0287FE-0914-410D-BF69-27C41680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ON-CHAIN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724E7-2286-4A16-B2B3-BE69CB2C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90950"/>
            <a:ext cx="756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buyer submits the signature from Lace. The Compact contract checks replay keys and pays atomically.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502C6-61AF-463E-948F-9BBA6A48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B0289-F4E1-452B-B9CC-42CA121D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RECOVERY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7563C-544A-45D0-A06D-CAE3D642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86300"/>
            <a:ext cx="756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app saves buyer intent data so a pending reservation can be restored or cancelled after a refresh.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4E984-98AD-487D-949C-D1584ECA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420185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0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03E2BC-931D-4948-8576-2BC6C903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HANDSHAKE / MIDNIGHT BUILDATHON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1C99E-0B3A-4835-B11A-3E36F5C9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642"/>
          </a:bodyPr>
          <a:lstStyle xmlns:a="http://schemas.openxmlformats.org/drawingml/2006/main">
            <a:def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The next step is seller-controlled, real payment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1ADDA-F3EB-4F31-932F-592D26AA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D8390-73C0-4F23-88CE-054F3608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A06D9-34D8-41C9-B8CB-6D47C742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r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WAVE 2  /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E74E55-2E2C-488F-9763-E665DCA3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8EA8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EA8FF"/>
                </a:solidFill>
                <a:latin typeface="Arial"/>
                <a:ea typeface="Arial"/>
                <a:cs typeface="Arial"/>
              </a:rPr>
              <a:t>FIRST USE 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FD7C0-3BD4-4C6B-AB82-E78B722F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45243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87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Marketplace settlement where one party pays off-chain and the other releases a digital asset after verified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35709-8FD8-4301-A12F-8C5D249E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ADOPTION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57C15-A975-4564-A118-E95B77EB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Start with a marketplace integration and a payment provider that can issue independently verifiable evidence. Keep receipt contents with the authorized verifier.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6311A-74B4-4E86-83CA-97D52A0A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E3D54-3D44-463D-887F-8FE01F2B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3BD78"/>
                </a:solidFill>
                <a:latin typeface="Arial"/>
                <a:ea typeface="Arial"/>
                <a:cs typeface="Arial"/>
              </a:rPr>
              <a:t>WAVE 3 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3E169-23EB-4E46-B19C-1DD0F210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3000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Seller-created offers and escrow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A24B5-88E3-4523-885D-0D984F21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38725"/>
            <a:ext cx="333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Provider-backed payment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723DA-070C-4F16-A6EF-0F67F5D9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038725"/>
            <a:ext cx="323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Lower public metadata and broader QA</a:t>
            </a:r>
          </a:p>
        </p:txBody>
      </p:sp>
    </p:spTree>
    <p:extLst>
      <p:ext uri="{BB962C8B-B14F-4D97-AF65-F5344CB8AC3E}">
        <p14:creationId xmlns:p14="http://schemas.microsoft.com/office/powerpoint/2010/main" val="1730028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8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B3474-4291-44D3-941E-6FD939D0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96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MIDNIGHT BUILDATHON  /  WAVE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90482-2C3A-4B2D-A40B-F9F3DA6C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76200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defPPr>
            <a:lvl1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1pPr>
            <a:lvl2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2pPr>
            <a:lvl3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3pPr>
            <a:lvl4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4pPr>
            <a:lvl5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5pPr>
            <a:lvl6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6pPr>
            <a:lvl7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7pPr>
            <a:lvl8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8pPr>
            <a:lvl9pPr algn="l"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98000"/>
              </a:lnSpc>
              <a:buNone/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A receipt becomes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125" b="1">
                <a:solidFill>
                  <a:srgbClr val="F4F7F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4F7F8"/>
                </a:solidFill>
                <a:latin typeface="Arial"/>
                <a:ea typeface="Arial"/>
                <a:cs typeface="Arial"/>
              </a:rPr>
              <a:t>a verifiable claim.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004F6-49EF-4BAB-ACFF-BF5EE104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7905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75" b="0">
                <a:solidFill>
                  <a:srgbClr val="B2BEC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BEC8"/>
                </a:solidFill>
                <a:latin typeface="Arial"/>
                <a:ea typeface="Arial"/>
                <a:cs typeface="Arial"/>
              </a:rPr>
              <a:t>Handshake uses Midnight to bind that claim to a buyer reservation and release escrowed test tokens under a contract rule.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D621E-1960-4FDC-B174-62841E65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8514A-56B4-4D66-9E7A-00989B4F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SOURCE REPOSITORY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8677D-1D64-41AE-88B4-7B38900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530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91E5C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1E5C2"/>
                </a:solidFill>
                <a:latin typeface="Arial"/>
                <a:ea typeface="Arial"/>
                <a:cs typeface="Arial"/>
              </a:rPr>
              <a:t>github.com/bytes1/handshake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AF06-FEFD-462D-AEEF-B91CA696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DEMO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796F0-1398-45E9-9D31-35FDAE3D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5307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F3BD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3BD78"/>
                </a:solidFill>
                <a:latin typeface="Arial"/>
                <a:ea typeface="Arial"/>
                <a:cs typeface="Arial"/>
              </a:rPr>
              <a:t>Midnight Preview · test tUSDC · no fiat 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A9FF0-1DC8-49F1-BAFB-F422BC28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198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74839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48390"/>
                </a:solidFill>
                <a:latin typeface="Arial"/>
                <a:ea typeface="Arial"/>
                <a:cs typeface="Arial"/>
              </a:rPr>
              <a:t>HANDSHAKE  /  WAVE 2</a:t>
            </a:r>
          </a:p>
        </p:txBody>
      </p:sp>
    </p:spTree>
    <p:extLst>
      <p:ext uri="{BB962C8B-B14F-4D97-AF65-F5344CB8AC3E}">
        <p14:creationId xmlns:p14="http://schemas.microsoft.com/office/powerpoint/2010/main" val="7789250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2026-10-18T08:13:51.0230000Z</dcterms:created>
  <dcterms:modified xsi:type="dcterms:W3CDTF">2026-10-18T08:13:51.0230000Z</dcterms:modified>
</coreProperties>
</file>